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B2B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B2B"/>
                </a:solidFill>
                <a:latin typeface="Arial"/>
              </a:rPr>
              <a:t>Wellbeing TAM, QAR billions/yr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Employer wellbeing TAM (QAR bn, midpoint)</c:v>
                </c:pt>
              </c:strCache>
            </c:strRef>
          </c:tx>
          <c:spPr>
            <a:solidFill>
              <a:srgbClr val="2F6D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B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Qatar</c:v>
                  </c:pt>
                  <c:pt idx="1">
                    <c:v>GCC (6 states)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0.53</c:v>
                </c:pt>
                <c:pt idx="1">
                  <c:v>7.94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B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4534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DCC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4534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gap, not the product: Gulf employer wellbeing is a named national priority in three countries, and nobody has built the layer that actually reaches a night-shift worker in their own language. Raaha is that layer, launching from Qatar.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ask, said plainly: three pilot employers, warm intros into the Qatar programs, and one or two advisors who know Gulf procurement. Don't ask for a check yet — the pilots are the fundraise-readiness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10332720" y="457200"/>
            <a:ext cx="1280160" cy="128016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457200" y="5029200"/>
            <a:ext cx="822960" cy="82296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728716" y="1051560"/>
            <a:ext cx="731520" cy="731520"/>
          </a:xfrm>
          <a:prstGeom prst="ellipse">
            <a:avLst/>
          </a:prstGeom>
          <a:solidFill>
            <a:srgbClr val="2A3B3A"/>
          </a:solidFill>
          <a:ln/>
        </p:spPr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814" y="1146658"/>
            <a:ext cx="541325" cy="5413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0" y="196596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Raaha</a:t>
            </a:r>
            <a:endParaRPr lang="en-US" sz="6000" dirty="0"/>
          </a:p>
        </p:txBody>
      </p:sp>
      <p:sp>
        <p:nvSpPr>
          <p:cNvPr id="7" name="Text 2"/>
          <p:cNvSpPr/>
          <p:nvPr/>
        </p:nvSpPr>
        <p:spPr>
          <a:xfrm>
            <a:off x="0" y="2880360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FB0A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راحة</a:t>
            </a:r>
            <a:endParaRPr lang="en-US" sz="2400" dirty="0"/>
          </a:p>
        </p:txBody>
      </p:sp>
      <p:sp>
        <p:nvSpPr>
          <p:cNvPr id="8" name="Text 3"/>
          <p:cNvSpPr/>
          <p:nvPr/>
        </p:nvSpPr>
        <p:spPr>
          <a:xfrm>
            <a:off x="1888236" y="3520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DE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wellbeing navigation for the Middle East's workforce — launching from Qatar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0" y="4251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B98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Taj Magsi  &amp;  Prof. Farooq Naeem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0" y="6172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9C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pactofficialorg@gmail.com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 exists. </a:t>
            </a:r>
            <a:pPr indent="0" marL="0">
              <a:buNone/>
            </a:pPr>
            <a:r>
              <a:rPr lang="en-US" sz="3200" b="1" i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it</a:t>
            </a:r>
            <a:pPr indent="0" marL="0">
              <a:buNone/>
            </a:pPr>
            <a:r>
              <a:rPr lang="en-US" sz="32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is what fails.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31012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40280"/>
            <a:ext cx="548640" cy="54864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8563" y="23116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97180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hotline nobody calls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520440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EAPs sit unused: the wrong language, the wrong hour, for a multilingual, shift-based Gulf workforce.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133088" y="1965960"/>
            <a:ext cx="331012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07408" y="2240280"/>
            <a:ext cx="548640" cy="54864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8731" y="231160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07408" y="297180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Distress becomes attrition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407408" y="3520440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McKinsey's GCC survey: employees with burnout symptoms are 4× more likely to intend to leave.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763256" y="1965960"/>
            <a:ext cx="3310128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37576" y="2240280"/>
            <a:ext cx="548640" cy="54864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899" y="231160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37576" y="297180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is flying blind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037576" y="3520440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anonymized signal reaches leadership — wellbeing spend is allocated by guesswork, defended by hope.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4709160"/>
            <a:ext cx="11183112" cy="1234440"/>
          </a:xfrm>
          <a:prstGeom prst="roundRect">
            <a:avLst>
              <a:gd name="adj" fmla="val 5926"/>
            </a:avLst>
          </a:prstGeom>
          <a:solidFill>
            <a:srgbClr val="F1E8D8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489204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4400" dirty="0"/>
          </a:p>
        </p:txBody>
      </p:sp>
      <p:sp>
        <p:nvSpPr>
          <p:cNvPr id="21" name="Text 16"/>
          <p:cNvSpPr/>
          <p:nvPr/>
        </p:nvSpPr>
        <p:spPr>
          <a:xfrm>
            <a:off x="3154680" y="4892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employees report burnout symptoms — and Qatar's national mental-health strategy already names the workplace as a priority setting.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governments already committed to this.</a:t>
            </a:r>
            <a:endParaRPr lang="en-US" sz="2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800" b="1" i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have built the operating layer yet.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377440"/>
            <a:ext cx="566928" cy="566928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41" y="2451141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3774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63040" y="27249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قطر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1546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Qatar National Vision 2030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human development — health and education — alongside social cohesion and economic diversification.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133088" y="214884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407408" y="2377440"/>
            <a:ext cx="566928" cy="566928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109" y="2451141"/>
            <a:ext cx="419527" cy="41952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093208" y="23774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Saudi Arabia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093208" y="27249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السعودية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407408" y="31546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· Quality of Life Program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07408" y="37033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Center for Mental Health Promotion (est. 2019, MOH) drives workplace wellness as prevention-oriented care.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763256" y="2148840"/>
            <a:ext cx="3310128" cy="3246120"/>
          </a:xfrm>
          <a:prstGeom prst="roundRect">
            <a:avLst>
              <a:gd name="adj" fmla="val 2254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37576" y="2377440"/>
            <a:ext cx="566928" cy="566928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1277" y="2451141"/>
            <a:ext cx="419527" cy="41952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23376" y="2377440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8723376" y="272491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3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الإمارات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037576" y="3154680"/>
            <a:ext cx="27614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Strategy for Wellbeing 2031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8037576" y="3703320"/>
            <a:ext cx="27614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Cabinet-approved: 14 components, 90 initiatives, and a National Wellbeing Observatory for real workplace data.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02920" y="5623560"/>
            <a:ext cx="11183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Raaha's anonymized employer dashboard is, in effect, a private-sector wellbeing observatory — the same data-for-policy logic these strategies already call for, delivered per employer, starting now.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workforce, and a gap, measured in millions.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084832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2" y="215021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933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33M+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58952" y="2743200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workforce across the six member states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25112" y="1828800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81144" y="2084832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524" y="2150212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9512" y="19933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10.88%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4581144" y="2743200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MENA's total disease burden is mental, neurological &amp; substance-use disorders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02920" y="3776472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58952" y="4032504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2" y="4097884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17320" y="39410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10,400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758952" y="469087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shortage against Saudi Arabia's mental-health workforce need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325112" y="3776472"/>
            <a:ext cx="356616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581144" y="4032504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524" y="4097884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39512" y="3941064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3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4581144" y="4690872"/>
            <a:ext cx="30540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employees report burnout symptoms (McKinsey)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8028432" y="1828800"/>
          <a:ext cx="3657600" cy="3639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Text 18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— AGENTIC ARCHITECTURE, NOT A CHATBOT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orchestrator. Five specialist agents. </a:t>
            </a:r>
            <a:pPr indent="0" marL="0">
              <a:buNone/>
            </a:pPr>
            <a:r>
              <a:rPr lang="en-US" sz="2400" b="1" i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 autonomous crisis decisions.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965960"/>
            <a:ext cx="420624" cy="420624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69" y="2020641"/>
            <a:ext cx="311262" cy="311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04088" y="2459736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&amp; Triage Agent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04088" y="2843784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in-language conversation; outputs a risk level and routes accordingly.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15968" y="178308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17136" y="1965960"/>
            <a:ext cx="420624" cy="420624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817" y="2020641"/>
            <a:ext cx="311262" cy="311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7136" y="2459736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Navigator Agent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17136" y="2843784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the human callback or referral. Executes decisions; never makes clinical ones.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129016" y="1783080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0184" y="1965960"/>
            <a:ext cx="420624" cy="420624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4865" y="2020641"/>
            <a:ext cx="311262" cy="31126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0184" y="2459736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Psychoeducation Agent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330184" y="2843784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Self-help from an approved library only — never open-ended clinical advice.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02920" y="3630168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" y="3813048"/>
            <a:ext cx="420624" cy="420624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69" y="3867729"/>
            <a:ext cx="311262" cy="31126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" y="430682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 &amp; Safety Agent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04088" y="4690872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crisis protocol, with live handoff to a human. Never fires alone.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4315968" y="3630168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17136" y="3813048"/>
            <a:ext cx="420624" cy="420624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17" y="3867729"/>
            <a:ext cx="311262" cy="31126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17136" y="430682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Insights Agent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17136" y="4690872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anonymized dashboard. Structurally cannot see raw transcripts.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129016" y="3630168"/>
            <a:ext cx="3611880" cy="1645920"/>
          </a:xfrm>
          <a:prstGeom prst="roundRect">
            <a:avLst>
              <a:gd name="adj" fmla="val 3889"/>
            </a:avLst>
          </a:prstGeom>
          <a:solidFill>
            <a:srgbClr val="F3E9D2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0184" y="3813048"/>
            <a:ext cx="420624" cy="420624"/>
          </a:xfrm>
          <a:prstGeom prst="ellipse">
            <a:avLst/>
          </a:prstGeom>
          <a:solidFill>
            <a:srgbClr val="E7D5A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4865" y="3867729"/>
            <a:ext cx="311262" cy="31126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0184" y="4306824"/>
            <a:ext cx="3209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E10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Control Tower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330184" y="4690872"/>
            <a:ext cx="3209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ledger, audit log, redaction gate — the fence around every agent above.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is a channel, not a bolt-on: the same orchestrator, the same agents, the same governance — spoken or typed.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conversation, fully orchestrated.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300" y="1757020"/>
            <a:ext cx="372161" cy="37216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93192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188720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messages or speaks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20025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of 5 languages, any channel — WhatsApp, web, or a live call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743200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300" y="2808580"/>
            <a:ext cx="372161" cy="3721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" y="26334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88720" y="272491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Orchestrator classifies urgency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188720" y="305409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routes to the right specialist agent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3794760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00" y="3860140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3192" y="3685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1188720" y="37764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Navigator books next step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188720" y="41056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callback, a referral, or a resource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4846320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300" y="4911700"/>
            <a:ext cx="372161" cy="37216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93192" y="47365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1188720" y="48280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 sees the trend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188720" y="51572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anonymized and aggregated — never the transcript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537960" y="1691640"/>
            <a:ext cx="5120640" cy="39776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858000" y="1965960"/>
            <a:ext cx="457200" cy="457200"/>
          </a:xfrm>
          <a:prstGeom prst="ellipse">
            <a:avLst/>
          </a:prstGeom>
          <a:solidFill>
            <a:srgbClr val="DCE9E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7436" y="2025396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2360" y="1984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Raaha assistant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452360" y="2258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confidential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7818120" y="2606040"/>
            <a:ext cx="3566160" cy="777240"/>
          </a:xfrm>
          <a:prstGeom prst="roundRect">
            <a:avLst>
              <a:gd name="adj" fmla="val 14118"/>
            </a:avLst>
          </a:prstGeom>
          <a:solidFill>
            <a:srgbClr val="DCE9E2"/>
          </a:solidFill>
          <a:ln/>
        </p:spPr>
      </p:sp>
      <p:sp>
        <p:nvSpPr>
          <p:cNvPr id="30" name="Text 23"/>
          <p:cNvSpPr/>
          <p:nvPr/>
        </p:nvSpPr>
        <p:spPr>
          <a:xfrm>
            <a:off x="7955280" y="26700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نیند نہیں آتی، کام کا بہت دباؤ ہے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7955280" y="30358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can't sleep, the work pressure is heavy” — voice note, Urdu</a:t>
            </a:r>
            <a:endParaRPr lang="en-US" sz="850" dirty="0"/>
          </a:p>
        </p:txBody>
      </p:sp>
      <p:sp>
        <p:nvSpPr>
          <p:cNvPr id="32" name="Shape 25"/>
          <p:cNvSpPr/>
          <p:nvPr/>
        </p:nvSpPr>
        <p:spPr>
          <a:xfrm>
            <a:off x="6812280" y="3611880"/>
            <a:ext cx="3657600" cy="1051560"/>
          </a:xfrm>
          <a:prstGeom prst="roundRect">
            <a:avLst>
              <a:gd name="adj" fmla="val 10435"/>
            </a:avLst>
          </a:prstGeom>
          <a:solidFill>
            <a:srgbClr val="FAF6EF"/>
          </a:solidFill>
          <a:ln w="12700">
            <a:solidFill>
              <a:srgbClr val="E4DCC8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949440" y="37033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sounds exhausting, and you did the right thing saying it out loud. Would a short sleep routine help tonight, or would you rather talk to a human navigator tomorrow — in Urdu?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812280" y="4846320"/>
            <a:ext cx="4389120" cy="566928"/>
          </a:xfrm>
          <a:prstGeom prst="roundRect">
            <a:avLst>
              <a:gd name="adj" fmla="val 16129"/>
            </a:avLst>
          </a:prstGeom>
          <a:solidFill>
            <a:srgbClr val="F3E9D2"/>
          </a:solidFill>
          <a:ln/>
        </p:spPr>
      </p:sp>
      <p:sp>
        <p:nvSpPr>
          <p:cNvPr id="35" name="Text 28"/>
          <p:cNvSpPr/>
          <p:nvPr/>
        </p:nvSpPr>
        <p:spPr>
          <a:xfrm>
            <a:off x="6995160" y="48463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E1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callback booked · 9:00 AM · Urdu · logged anonymously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AUTHENTIC VOICE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Stigma doesn't fill in forms.</a:t>
            </a:r>
            <a:endParaRPr lang="en-US" sz="27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700" b="1" i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talks — quietly, in its mother tongue.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2148840"/>
            <a:ext cx="777240" cy="777240"/>
          </a:xfrm>
          <a:prstGeom prst="ellipse">
            <a:avLst/>
          </a:prstGeom>
          <a:solidFill>
            <a:srgbClr val="DCE9E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961" y="224988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4884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76.7% of Qatar's population is expatriate. A worker who would never email HR about stress will send a voice note at midnight in Urdu. Raaha answers in kind — native source content and human review on sensitive replies, not machine translation.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4114800"/>
            <a:ext cx="6172200" cy="777240"/>
          </a:xfrm>
          <a:prstGeom prst="roundRect">
            <a:avLst>
              <a:gd name="adj" fmla="val 9412"/>
            </a:avLst>
          </a:prstGeom>
          <a:solidFill>
            <a:srgbClr val="F1E8D8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1148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60s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331720" y="41148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first supportive response, any shift, any hour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903720" y="214884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903720" y="22585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العربية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903720" y="27157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9116568" y="214884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9116568" y="225856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English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16568" y="271576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903720" y="32004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03720" y="33101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اردو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903720" y="376732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· HINDI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9116568" y="320040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116568" y="331012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മലയാളം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116568" y="376732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903720" y="4251960"/>
            <a:ext cx="2084832" cy="914400"/>
          </a:xfrm>
          <a:prstGeom prst="roundRect">
            <a:avLst>
              <a:gd name="adj" fmla="val 8000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903720" y="4361688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E2B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Tagalog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6903720" y="481888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TAGALOG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903720" y="53492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Nepali, Bangla next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BEST-IN-CLASS, EVIDENCE-BASED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Measurement-based care is now the standard. Raaha builds it in from day one.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13332" y="2212848"/>
            <a:ext cx="585216" cy="585216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9410" y="2288926"/>
            <a:ext cx="433060" cy="4330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35661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employers now implementing measurement-based care (Forrester, 2025)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64992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5404" y="2212848"/>
            <a:ext cx="585216" cy="585216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482" y="2288926"/>
            <a:ext cx="433060" cy="4330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02152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~70%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93592" y="35661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reliably improved in a 1,132-person cohort study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227064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37476" y="2212848"/>
            <a:ext cx="585216" cy="585216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554" y="2288926"/>
            <a:ext cx="433060" cy="4330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64224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 wks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455664" y="35661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time-to-remission for depression &amp; anxiety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9089136" y="1965960"/>
            <a:ext cx="2606040" cy="2926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99548" y="2212848"/>
            <a:ext cx="585216" cy="585216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626" y="2288926"/>
            <a:ext cx="433060" cy="4330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26296" y="2971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~$7,000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317736" y="356616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workplace savings per participant over 6 months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02920" y="516636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discipline, localized: PHQ-9/GAD-7-style screening built into the conversation — trended per employee, never per name to HR.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category is proven. Nobody has localized it.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83112" cy="4206240"/>
        </p:xfrm>
        <a:graphic>
          <a:graphicData uri="http://schemas.openxmlformats.org/drawingml/2006/table">
            <a:tbl>
              <a:tblPr/>
              <a:tblGrid>
                <a:gridCol w="3200400"/>
                <a:gridCol w="2377440"/>
                <a:gridCol w="2743200"/>
                <a:gridCol w="2862072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6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Raaha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6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EAPs (Eunoia, MantraCare)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AF6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incumbents (Lyra, Spring, Modern Health)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A153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Qatar / MENA-native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8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AI architecture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8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8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Asian + Arabic voice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8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8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Anonymized employer insight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98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Transparent PEPM pricing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D6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8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9A8F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public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E8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12-WEEK PILOT, THEN ANNUAL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on your workforce, before any annual contract.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620" y="20770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Lite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417320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250 employees · 12 weeks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7724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QAR 25,000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333756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web support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 pair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dashboard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workshop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325112" y="1645920"/>
            <a:ext cx="3566160" cy="4160520"/>
          </a:xfrm>
          <a:prstGeom prst="roundRect">
            <a:avLst>
              <a:gd name="adj" fmla="val 2308"/>
            </a:avLst>
          </a:prstGeom>
          <a:solidFill>
            <a:srgbClr val="1E2B2B"/>
          </a:solidFill>
          <a:ln/>
          <a:effectLst>
            <a:outerShdw sx="100000" sy="100000" kx="0" ky="0" algn="bl" rotWithShape="0" blurRad="177800" dist="38100" dir="54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9432" y="1920240"/>
            <a:ext cx="502920" cy="502920"/>
          </a:xfrm>
          <a:prstGeom prst="ellipse">
            <a:avLst/>
          </a:prstGeom>
          <a:solidFill>
            <a:srgbClr val="2A3B3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4812" y="198562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9512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Core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239512" y="22128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9C4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1,000 employees · 12 weeks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99432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98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QAR 45,000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4599432" y="324612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E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Lite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E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triage (4 languages)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E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navigator SLA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E7EC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workshops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47304" y="173736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21624" y="2011680"/>
            <a:ext cx="502920" cy="502920"/>
          </a:xfrm>
          <a:prstGeom prst="ellipse">
            <a:avLst/>
          </a:prstGeom>
          <a:solidFill>
            <a:srgbClr val="F1E8D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7004" y="2077060"/>
            <a:ext cx="372161" cy="37216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61704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Plus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9061704" y="23042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3,000 employees · 12 weeks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421624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QAR 85,000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8421624" y="3337560"/>
            <a:ext cx="3017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Core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AI check-ins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Site/camp segmentation</a:t>
            </a:r>
            <a:endParaRPr lang="en-US" sz="1050" dirty="0"/>
          </a:p>
          <a:p>
            <a:pPr marL="342900" indent="-342900">
              <a:lnSpc>
                <a:spcPct val="130000"/>
              </a:lnSpc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executive report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02920" y="598932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Post-pilot annual: QAR 8–30 per employee per month, tiered by scope — in the same transparent band MantraCare itself publishes for global EAPs.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15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OPERATORS, NOT TOURISTS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1155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two founders who met at a pitch competition.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i="1" dirty="0">
                <a:solidFill>
                  <a:srgbClr val="8A15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years into the same work, together.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8A153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91640" y="2212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Taj Magsi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542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Managing Director, DilKiBaat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0906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Five-plus years inside PACT building its clinical-technology systems, including 123CBT.online for the World Psychiatric Association. Native Urdu and Punjabi speaker.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45352" y="19202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AF6EF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19672" y="2194560"/>
            <a:ext cx="777240" cy="777240"/>
          </a:xfrm>
          <a:prstGeom prst="ellipse">
            <a:avLst/>
          </a:prstGeom>
          <a:solidFill>
            <a:srgbClr val="2F6D62"/>
          </a:solidFill>
          <a:ln/>
        </p:spPr>
      </p:sp>
      <p:sp>
        <p:nvSpPr>
          <p:cNvPr id="12" name="Text 10"/>
          <p:cNvSpPr/>
          <p:nvPr/>
        </p:nvSpPr>
        <p:spPr>
          <a:xfrm>
            <a:off x="6519672" y="21945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34072" y="22128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Prof. Farooq Naeem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34072" y="25420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of Psychiatry, U. of Toronto · Founder, PACT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19672" y="3090672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British-Canadian academic of South Asian origin. Pioneered culturally adapted CBT for South Asia, North Africa and the Middle East — the exact regions Raaha operationalizes.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4251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E8D8"/>
          </a:solidFill>
          <a:ln/>
        </p:spPr>
      </p:sp>
      <p:sp>
        <p:nvSpPr>
          <p:cNvPr id="17" name="Shape 15"/>
          <p:cNvSpPr/>
          <p:nvPr/>
        </p:nvSpPr>
        <p:spPr>
          <a:xfrm>
            <a:off x="704088" y="445312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769" y="4507809"/>
            <a:ext cx="311262" cy="3112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04088" y="49651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DilKiBaat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" y="5312664"/>
            <a:ext cx="22037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clinicians, live since Nov 2024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28416" y="4251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E8D8"/>
          </a:solidFill>
          <a:ln/>
        </p:spPr>
      </p:sp>
      <p:sp>
        <p:nvSpPr>
          <p:cNvPr id="22" name="Shape 19"/>
          <p:cNvSpPr/>
          <p:nvPr/>
        </p:nvSpPr>
        <p:spPr>
          <a:xfrm>
            <a:off x="3529584" y="445312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265" y="4507809"/>
            <a:ext cx="311262" cy="31126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3529584" y="49651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123CBT.online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3529584" y="5312664"/>
            <a:ext cx="22037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World Psychiatric Association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6153912" y="4251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E8D8"/>
          </a:solidFill>
          <a:ln/>
        </p:spPr>
      </p:sp>
      <p:sp>
        <p:nvSpPr>
          <p:cNvPr id="27" name="Shape 23"/>
          <p:cNvSpPr/>
          <p:nvPr/>
        </p:nvSpPr>
        <p:spPr>
          <a:xfrm>
            <a:off x="6355080" y="445312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761" y="4507809"/>
            <a:ext cx="311262" cy="31126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355080" y="49651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Southampton Framework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355080" y="5312664"/>
            <a:ext cx="22037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30+ RCTs worldwide</a:t>
            </a:r>
            <a:endParaRPr lang="en-US" sz="850" dirty="0"/>
          </a:p>
        </p:txBody>
      </p:sp>
      <p:sp>
        <p:nvSpPr>
          <p:cNvPr id="31" name="Shape 26"/>
          <p:cNvSpPr/>
          <p:nvPr/>
        </p:nvSpPr>
        <p:spPr>
          <a:xfrm>
            <a:off x="8979408" y="425196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1E8D8"/>
          </a:solidFill>
          <a:ln/>
        </p:spPr>
      </p:sp>
      <p:sp>
        <p:nvSpPr>
          <p:cNvPr id="32" name="Shape 27"/>
          <p:cNvSpPr/>
          <p:nvPr/>
        </p:nvSpPr>
        <p:spPr>
          <a:xfrm>
            <a:off x="9180576" y="4453128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5257" y="4507809"/>
            <a:ext cx="311262" cy="31126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9180576" y="4965192"/>
            <a:ext cx="2203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CBT Ambassador '25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9180576" y="5312664"/>
            <a:ext cx="220370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Confederation of CBT (Farooq)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10085832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53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Raaha  ·  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8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THE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868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 proves it. The region needs it.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74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73837"/>
          </a:solidFill>
          <a:ln/>
        </p:spPr>
      </p:sp>
      <p:sp>
        <p:nvSpPr>
          <p:cNvPr id="5" name="Shape 3"/>
          <p:cNvSpPr/>
          <p:nvPr/>
        </p:nvSpPr>
        <p:spPr>
          <a:xfrm>
            <a:off x="758952" y="2130552"/>
            <a:ext cx="502920" cy="502920"/>
          </a:xfrm>
          <a:prstGeom prst="ellipse">
            <a:avLst/>
          </a:prstGeom>
          <a:solidFill>
            <a:srgbClr val="34473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332" y="2195932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Qatar — now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" y="2788920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design-partner pilots · Startup Qatar application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087368" y="237744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8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4325112" y="1874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73837"/>
          </a:solidFill>
          <a:ln/>
        </p:spPr>
      </p:sp>
      <p:sp>
        <p:nvSpPr>
          <p:cNvPr id="11" name="Shape 8"/>
          <p:cNvSpPr/>
          <p:nvPr/>
        </p:nvSpPr>
        <p:spPr>
          <a:xfrm>
            <a:off x="4581144" y="2130552"/>
            <a:ext cx="502920" cy="502920"/>
          </a:xfrm>
          <a:prstGeom prst="ellipse">
            <a:avLst/>
          </a:prstGeom>
          <a:solidFill>
            <a:srgbClr val="34473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6524" y="2195932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9512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GCC — next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81144" y="2788920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 and UAE employer expansion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909560" y="2377440"/>
            <a:ext cx="219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98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8147304" y="1874520"/>
            <a:ext cx="3566160" cy="1600200"/>
          </a:xfrm>
          <a:prstGeom prst="roundRect">
            <a:avLst>
              <a:gd name="adj" fmla="val 4571"/>
            </a:avLst>
          </a:prstGeom>
          <a:solidFill>
            <a:srgbClr val="273837"/>
          </a:solidFill>
          <a:ln/>
        </p:spPr>
      </p:sp>
      <p:sp>
        <p:nvSpPr>
          <p:cNvPr id="17" name="Shape 13"/>
          <p:cNvSpPr/>
          <p:nvPr/>
        </p:nvSpPr>
        <p:spPr>
          <a:xfrm>
            <a:off x="8403336" y="2130552"/>
            <a:ext cx="502920" cy="502920"/>
          </a:xfrm>
          <a:prstGeom prst="ellipse">
            <a:avLst/>
          </a:prstGeom>
          <a:solidFill>
            <a:srgbClr val="34473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716" y="2195932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61704" y="2148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MENA / WANA — long-tail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403336" y="2788920"/>
            <a:ext cx="30540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7D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University, NGO &amp; employer-coalition partnerships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02920" y="3794760"/>
            <a:ext cx="11183112" cy="1783080"/>
          </a:xfrm>
          <a:prstGeom prst="roundRect">
            <a:avLst>
              <a:gd name="adj" fmla="val 4615"/>
            </a:avLst>
          </a:prstGeom>
          <a:solidFill>
            <a:srgbClr val="2E2118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4023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8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now, we're looking for: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2960" y="438912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design-partner employers for the founding pilot cohort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into Startup Qatar, QSTP Incub8, or DIC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FAF6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with Gulf HR or health-system procurement experience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9FB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Karachi &amp; Toronto. Launching in Doha.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0" y="630936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8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pactofficialorg@gmail.com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Raaha — Wellbeing Navigation OS for the Middle East</dc:title>
  <dc:subject>PptxGenJS Presentation</dc:subject>
  <dc:creator>Taj Magsi</dc:creator>
  <cp:lastModifiedBy>Taj Magsi</cp:lastModifiedBy>
  <cp:revision>1</cp:revision>
  <dcterms:created xsi:type="dcterms:W3CDTF">2026-07-06T13:58:20Z</dcterms:created>
  <dcterms:modified xsi:type="dcterms:W3CDTF">2026-07-06T13:58:20Z</dcterms:modified>
</cp:coreProperties>
</file>